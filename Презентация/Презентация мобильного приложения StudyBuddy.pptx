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45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50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29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0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19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84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75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5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49000"/>
              </a:schemeClr>
            </a:gs>
            <a:gs pos="74000">
              <a:schemeClr val="accent1">
                <a:lumMod val="45000"/>
                <a:lumOff val="55000"/>
                <a:alpha val="45000"/>
              </a:schemeClr>
            </a:gs>
            <a:gs pos="83000">
              <a:schemeClr val="accent1">
                <a:lumMod val="45000"/>
                <a:lumOff val="55000"/>
                <a:alpha val="51000"/>
              </a:schemeClr>
            </a:gs>
            <a:gs pos="100000">
              <a:schemeClr val="accent1">
                <a:lumMod val="30000"/>
                <a:lumOff val="70000"/>
                <a:alpha val="31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F13F2-78BE-45CF-8718-03460B5BC6C9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5E221-36DD-4218-B7CC-C3ED329A1A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22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250A6395-39CB-B646-6190-4638706D3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56321" y="546344"/>
            <a:ext cx="4260986" cy="71369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A22C2AC-69FF-85A5-8767-CB0807D2EA0D}"/>
              </a:ext>
            </a:extLst>
          </p:cNvPr>
          <p:cNvSpPr/>
          <p:nvPr/>
        </p:nvSpPr>
        <p:spPr>
          <a:xfrm>
            <a:off x="1128525" y="230120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Мобильное приложение для поиска учебных партнеров</a:t>
            </a:r>
            <a:r>
              <a:rPr lang="ru-RU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</a:t>
            </a: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StudyBuddy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3FC0E68-4BD1-000E-FA3A-D16CAC7AE33E}"/>
              </a:ext>
            </a:extLst>
          </p:cNvPr>
          <p:cNvSpPr/>
          <p:nvPr/>
        </p:nvSpPr>
        <p:spPr>
          <a:xfrm>
            <a:off x="1128525" y="4857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Разработчик: 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Мататова Эмилия Сиеновна</a:t>
            </a:r>
            <a:endParaRPr lang="en-US" sz="17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677192-2BDC-16D1-B216-C800A0C32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986" y="1653948"/>
            <a:ext cx="26384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9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A47A95D-01EB-2C5A-6E6B-BE8AA03696E0}"/>
              </a:ext>
            </a:extLst>
          </p:cNvPr>
          <p:cNvSpPr/>
          <p:nvPr/>
        </p:nvSpPr>
        <p:spPr>
          <a:xfrm>
            <a:off x="793790" y="3783925"/>
            <a:ext cx="76988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Проблема и актуальность</a:t>
            </a:r>
            <a:endParaRPr lang="en-US" sz="44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805CF3B-6924-67D2-3E47-1653400C85DC}"/>
              </a:ext>
            </a:extLst>
          </p:cNvPr>
          <p:cNvSpPr/>
          <p:nvPr/>
        </p:nvSpPr>
        <p:spPr>
          <a:xfrm>
            <a:off x="793790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EA13E6A-3A29-291E-8F16-15B29864125B}"/>
              </a:ext>
            </a:extLst>
          </p:cNvPr>
          <p:cNvSpPr/>
          <p:nvPr/>
        </p:nvSpPr>
        <p:spPr>
          <a:xfrm>
            <a:off x="1142524" y="50901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Сложность поиска партнеров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E49503B-702E-23E4-24A9-E0CC7B5FA2D4}"/>
              </a:ext>
            </a:extLst>
          </p:cNvPr>
          <p:cNvSpPr/>
          <p:nvPr/>
        </p:nvSpPr>
        <p:spPr>
          <a:xfrm>
            <a:off x="1142524" y="59349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Студентам трудно найти подходящих партнеров для совместной учебы.</a:t>
            </a:r>
            <a:endParaRPr lang="en-US" sz="17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B577419-6DFF-CBB2-A7DC-B1B888F34605}"/>
              </a:ext>
            </a:extLst>
          </p:cNvPr>
          <p:cNvSpPr/>
          <p:nvPr/>
        </p:nvSpPr>
        <p:spPr>
          <a:xfrm>
            <a:off x="5216962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450F94C-5998-9CD9-6598-20816901525A}"/>
              </a:ext>
            </a:extLst>
          </p:cNvPr>
          <p:cNvSpPr/>
          <p:nvPr/>
        </p:nvSpPr>
        <p:spPr>
          <a:xfrm>
            <a:off x="5565696" y="50901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Неудобство координации</a:t>
            </a:r>
            <a:endParaRPr lang="en-US" sz="2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87D08B5-C40F-2411-682D-29BB345728CC}"/>
              </a:ext>
            </a:extLst>
          </p:cNvPr>
          <p:cNvSpPr/>
          <p:nvPr/>
        </p:nvSpPr>
        <p:spPr>
          <a:xfrm>
            <a:off x="5565696" y="59349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Отсутствие единой платформы для организации учебных активностей.</a:t>
            </a:r>
            <a:endParaRPr lang="en-US" sz="175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82FF664-E7F7-6EC0-A6AD-80D8291B21DF}"/>
              </a:ext>
            </a:extLst>
          </p:cNvPr>
          <p:cNvSpPr/>
          <p:nvPr/>
        </p:nvSpPr>
        <p:spPr>
          <a:xfrm>
            <a:off x="9640133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91BDF66-BFC8-02A8-ADA8-BBFC5C67713B}"/>
              </a:ext>
            </a:extLst>
          </p:cNvPr>
          <p:cNvSpPr/>
          <p:nvPr/>
        </p:nvSpPr>
        <p:spPr>
          <a:xfrm>
            <a:off x="9988868" y="5090160"/>
            <a:ext cx="3513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Отсутствие платформы</a:t>
            </a:r>
            <a:endParaRPr lang="en-US" sz="2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606D43D-FF10-39C1-0716-783B8D591E1A}"/>
              </a:ext>
            </a:extLst>
          </p:cNvPr>
          <p:cNvSpPr/>
          <p:nvPr/>
        </p:nvSpPr>
        <p:spPr>
          <a:xfrm>
            <a:off x="9988868" y="59349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хорошего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места для поиска единомышленников.</a:t>
            </a:r>
            <a:endParaRPr lang="en-US" sz="175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4F318F7-42BF-C868-D7D3-597ADDAAF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439" y="406122"/>
            <a:ext cx="4548720" cy="2905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D614E111-9580-3F33-0CC6-BCC7EFA87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508" y="409192"/>
            <a:ext cx="4548719" cy="2902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21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004B985-384F-5657-7C67-58994DB58F2B}"/>
              </a:ext>
            </a:extLst>
          </p:cNvPr>
          <p:cNvSpPr/>
          <p:nvPr/>
        </p:nvSpPr>
        <p:spPr>
          <a:xfrm>
            <a:off x="793790" y="1692354"/>
            <a:ext cx="69214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Актуальность решения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C652E1-6E83-4880-F11F-C3A394F0BED6}"/>
              </a:ext>
            </a:extLst>
          </p:cNvPr>
          <p:cNvSpPr/>
          <p:nvPr/>
        </p:nvSpPr>
        <p:spPr>
          <a:xfrm>
            <a:off x="793790" y="285464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30%</a:t>
            </a:r>
            <a:endParaRPr lang="en-US" sz="5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51419E5-7F9B-1194-9513-175490AB89D9}"/>
              </a:ext>
            </a:extLst>
          </p:cNvPr>
          <p:cNvSpPr/>
          <p:nvPr/>
        </p:nvSpPr>
        <p:spPr>
          <a:xfrm>
            <a:off x="793790" y="3886438"/>
            <a:ext cx="232981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Повышение эффективности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B85FDE0-40BA-A9A0-7A6F-7AA036C7BC9A}"/>
              </a:ext>
            </a:extLst>
          </p:cNvPr>
          <p:cNvSpPr/>
          <p:nvPr/>
        </p:nvSpPr>
        <p:spPr>
          <a:xfrm>
            <a:off x="793789" y="4878466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Коллаборативное обучение увеличивает эффективность.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F9C4C37-1095-E9DF-3E00-8B7DF293F019}"/>
              </a:ext>
            </a:extLst>
          </p:cNvPr>
          <p:cNvSpPr/>
          <p:nvPr/>
        </p:nvSpPr>
        <p:spPr>
          <a:xfrm>
            <a:off x="3407093" y="285464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75%</a:t>
            </a:r>
            <a:endParaRPr lang="en-US" sz="5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CD92885-2E64-BBBB-5CF8-879F666279FC}"/>
              </a:ext>
            </a:extLst>
          </p:cNvPr>
          <p:cNvSpPr/>
          <p:nvPr/>
        </p:nvSpPr>
        <p:spPr>
          <a:xfrm>
            <a:off x="3407093" y="388643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Предпочтение студентов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53EFAED-0182-6595-827E-EE10506A0936}"/>
              </a:ext>
            </a:extLst>
          </p:cNvPr>
          <p:cNvSpPr/>
          <p:nvPr/>
        </p:nvSpPr>
        <p:spPr>
          <a:xfrm>
            <a:off x="3407093" y="4878466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Студенты предпочитают работать в парах/группах.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B5EDF29-E2E1-0BEB-E59C-571260BDCE0D}"/>
              </a:ext>
            </a:extLst>
          </p:cNvPr>
          <p:cNvSpPr/>
          <p:nvPr/>
        </p:nvSpPr>
        <p:spPr>
          <a:xfrm>
            <a:off x="6020395" y="285464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—</a:t>
            </a:r>
            <a:endParaRPr lang="en-US" sz="5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482C3E-B1A7-DA57-60F2-5DEC41BEA22D}"/>
              </a:ext>
            </a:extLst>
          </p:cNvPr>
          <p:cNvSpPr/>
          <p:nvPr/>
        </p:nvSpPr>
        <p:spPr>
          <a:xfrm>
            <a:off x="6020395" y="388643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43728"/>
                </a:solidFill>
                <a:ea typeface="Crimson Pro Bold" pitchFamily="34" charset="-122"/>
              </a:rPr>
              <a:t>Технологический</a:t>
            </a:r>
          </a:p>
          <a:p>
            <a:pPr marL="0" indent="0" algn="ctr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443728"/>
                </a:solidFill>
                <a:ea typeface="Crimson Pro Bold" pitchFamily="34" charset="-122"/>
              </a:rPr>
              <a:t>прогресс</a:t>
            </a:r>
            <a:endParaRPr lang="en-US" sz="2200" b="1" dirty="0">
              <a:solidFill>
                <a:srgbClr val="443728"/>
              </a:solidFill>
              <a:latin typeface="Crimson Pro Bold" pitchFamily="34" charset="0"/>
              <a:ea typeface="Crimson Pro Bold" pitchFamily="34" charset="-122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1AEBEE-C787-AAFD-2EBB-BD61ED4348DD}"/>
              </a:ext>
            </a:extLst>
          </p:cNvPr>
          <p:cNvSpPr/>
          <p:nvPr/>
        </p:nvSpPr>
        <p:spPr>
          <a:xfrm>
            <a:off x="6000750" y="4883042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Соответствие трендам</a:t>
            </a:r>
            <a:r>
              <a:rPr lang="ru-RU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сегодняшний день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58CCD943-FBD2-6DDC-ED80-5F23C7C13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72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C632A7-1F87-AB8C-99CC-A5143C142108}"/>
              </a:ext>
            </a:extLst>
          </p:cNvPr>
          <p:cNvSpPr/>
          <p:nvPr/>
        </p:nvSpPr>
        <p:spPr>
          <a:xfrm>
            <a:off x="793790" y="1686044"/>
            <a:ext cx="68652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Цели и задачи проекта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7CA01E-5781-2ABD-517F-FAFC90C0684F}"/>
              </a:ext>
            </a:extLst>
          </p:cNvPr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786598-09FE-2EC7-BA5A-507429927BD1}"/>
              </a:ext>
            </a:extLst>
          </p:cNvPr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F0CB2E-230B-5EBD-AE0B-D55AF4D455FE}"/>
              </a:ext>
            </a:extLst>
          </p:cNvPr>
          <p:cNvSpPr/>
          <p:nvPr/>
        </p:nvSpPr>
        <p:spPr>
          <a:xfrm>
            <a:off x="793790" y="3377803"/>
            <a:ext cx="3812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Интуитивный интерфейс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EDDF2C-FA10-403E-2588-BE07D52C49B7}"/>
              </a:ext>
            </a:extLst>
          </p:cNvPr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удобного пользовательского интерфейса.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66EADE-FB12-2A12-3F88-1C8A1283A2E6}"/>
              </a:ext>
            </a:extLst>
          </p:cNvPr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6F9D04C-510F-A2F9-0E1D-B3DE2BE66510}"/>
              </a:ext>
            </a:extLst>
          </p:cNvPr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C663E22-D852-DB95-6D2E-4814F35B84CC}"/>
              </a:ext>
            </a:extLst>
          </p:cNvPr>
          <p:cNvSpPr/>
          <p:nvPr/>
        </p:nvSpPr>
        <p:spPr>
          <a:xfrm>
            <a:off x="5216962" y="3377803"/>
            <a:ext cx="32213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Система фильтрации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583428-DEF3-81F8-6B4F-1AFEA171A0C4}"/>
              </a:ext>
            </a:extLst>
          </p:cNvPr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фильтрации по предметам и типам работ.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3657D7-EA99-A02D-9A08-988C711F3548}"/>
              </a:ext>
            </a:extLst>
          </p:cNvPr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BD0D95C-8FAF-12A0-86D9-43228E67125C}"/>
              </a:ext>
            </a:extLst>
          </p:cNvPr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8F97A7-8E0A-3034-5329-D9F6D7D8A148}"/>
              </a:ext>
            </a:extLst>
          </p:cNvPr>
          <p:cNvSpPr/>
          <p:nvPr/>
        </p:nvSpPr>
        <p:spPr>
          <a:xfrm>
            <a:off x="9640133" y="3377803"/>
            <a:ext cx="3493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Управление запросами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44E62A-CE0F-8448-9551-831DA07B3226}"/>
              </a:ext>
            </a:extLst>
          </p:cNvPr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механизма отправки и управления запросами.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9C3ACC-A799-92C8-6297-0955EE40C85E}"/>
              </a:ext>
            </a:extLst>
          </p:cNvPr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1D3001A-D4DE-8890-1CE4-F4EC8FFD6D5D}"/>
              </a:ext>
            </a:extLst>
          </p:cNvPr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EAA88A-5216-8676-87D5-264283F9C17D}"/>
              </a:ext>
            </a:extLst>
          </p:cNvPr>
          <p:cNvSpPr/>
          <p:nvPr/>
        </p:nvSpPr>
        <p:spPr>
          <a:xfrm>
            <a:off x="793790" y="5520214"/>
            <a:ext cx="3480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Отображение запросов</a:t>
            </a: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7D3C191-AAD4-B192-5E87-9E3B6D5C0685}"/>
              </a:ext>
            </a:extLst>
          </p:cNvPr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Удобное отображение входящих/исходящих запросов.</a:t>
            </a:r>
            <a:endParaRPr lang="en-US" sz="17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E45401-84E0-CC0E-A325-34BC7631486C}"/>
              </a:ext>
            </a:extLst>
          </p:cNvPr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D567D3A-B050-01E3-C621-86FE0EEC193C}"/>
              </a:ext>
            </a:extLst>
          </p:cNvPr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8BA172D-46E9-5382-0242-107B02795E83}"/>
              </a:ext>
            </a:extLst>
          </p:cNvPr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Тестирование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0F594E8-FB76-BE67-F340-D08DD287387A}"/>
              </a:ext>
            </a:extLst>
          </p:cNvPr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работы всех компонентов приложения.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32221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82D307-B2BC-2303-2AD8-6CACFF50DF35}"/>
              </a:ext>
            </a:extLst>
          </p:cNvPr>
          <p:cNvSpPr/>
          <p:nvPr/>
        </p:nvSpPr>
        <p:spPr>
          <a:xfrm>
            <a:off x="793790" y="1900118"/>
            <a:ext cx="97568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Основные функции приложения</a:t>
            </a:r>
            <a:endParaRPr lang="en-US" sz="4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A0926E-DE4B-3041-E37A-41D848C0482F}"/>
              </a:ext>
            </a:extLst>
          </p:cNvPr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1F68D3-6F8A-79C8-A97E-243FD1B0BDCA}"/>
              </a:ext>
            </a:extLst>
          </p:cNvPr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9EF8DB-10ED-0E43-7C29-76B112F6697A}"/>
              </a:ext>
            </a:extLst>
          </p:cNvPr>
          <p:cNvSpPr/>
          <p:nvPr/>
        </p:nvSpPr>
        <p:spPr>
          <a:xfrm>
            <a:off x="1028343" y="321385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Поиск партнеров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6D112E-4ED4-32ED-7590-52FF445F2E51}"/>
              </a:ext>
            </a:extLst>
          </p:cNvPr>
          <p:cNvSpPr/>
          <p:nvPr/>
        </p:nvSpPr>
        <p:spPr>
          <a:xfrm>
            <a:off x="4940379" y="3213854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Фильтрация по предмету и типу работы.</a:t>
            </a:r>
            <a:endParaRPr lang="en-US" sz="17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DFA2D9-E1C2-ACDC-C4C1-695A69E5438F}"/>
              </a:ext>
            </a:extLst>
          </p:cNvPr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B82DF9-E592-B0A1-E785-2FC197A88E60}"/>
              </a:ext>
            </a:extLst>
          </p:cNvPr>
          <p:cNvSpPr/>
          <p:nvPr/>
        </p:nvSpPr>
        <p:spPr>
          <a:xfrm>
            <a:off x="1028343" y="386417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запросов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026BD3-264F-E411-3380-EF150308C5B2}"/>
              </a:ext>
            </a:extLst>
          </p:cNvPr>
          <p:cNvSpPr/>
          <p:nvPr/>
        </p:nvSpPr>
        <p:spPr>
          <a:xfrm>
            <a:off x="4940379" y="386417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Отправка, принятие, отклонение запросов.</a:t>
            </a:r>
            <a:endParaRPr lang="en-US" sz="1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02634E-CEA2-A874-B29E-F4EBD2076307}"/>
              </a:ext>
            </a:extLst>
          </p:cNvPr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DCDBDD-70E4-325F-3301-F525880B02BE}"/>
              </a:ext>
            </a:extLst>
          </p:cNvPr>
          <p:cNvSpPr/>
          <p:nvPr/>
        </p:nvSpPr>
        <p:spPr>
          <a:xfrm>
            <a:off x="1028343" y="451449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запросами</a:t>
            </a:r>
            <a:endParaRPr lang="en-US" sz="17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56A1BE-9A02-7036-69E4-ECADADE7F4A6}"/>
              </a:ext>
            </a:extLst>
          </p:cNvPr>
          <p:cNvSpPr/>
          <p:nvPr/>
        </p:nvSpPr>
        <p:spPr>
          <a:xfrm>
            <a:off x="4940379" y="451449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Разделение на входящие и исходящие.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55D8836-C807-8B18-5FD7-3C9AEA9796A6}"/>
              </a:ext>
            </a:extLst>
          </p:cNvPr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457FE0-FD1B-702D-5A74-06E821E291A7}"/>
              </a:ext>
            </a:extLst>
          </p:cNvPr>
          <p:cNvSpPr/>
          <p:nvPr/>
        </p:nvSpPr>
        <p:spPr>
          <a:xfrm>
            <a:off x="1028343" y="516481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Уведомления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46D856-714A-14D8-3215-4D5EC3B14CC8}"/>
              </a:ext>
            </a:extLst>
          </p:cNvPr>
          <p:cNvSpPr/>
          <p:nvPr/>
        </p:nvSpPr>
        <p:spPr>
          <a:xfrm>
            <a:off x="4940379" y="516481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Визуальные индикаторы новых запросов.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EFCC6B8-1415-F408-F9E4-2AA18BE0D51A}"/>
              </a:ext>
            </a:extLst>
          </p:cNvPr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C68DD7E-3E9F-CAFC-E044-7876225618C3}"/>
              </a:ext>
            </a:extLst>
          </p:cNvPr>
          <p:cNvSpPr/>
          <p:nvPr/>
        </p:nvSpPr>
        <p:spPr>
          <a:xfrm>
            <a:off x="1028343" y="58151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Профиль</a:t>
            </a:r>
            <a:endParaRPr lang="en-US" sz="17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800499-6A25-05FB-B937-4C79783950F7}"/>
              </a:ext>
            </a:extLst>
          </p:cNvPr>
          <p:cNvSpPr/>
          <p:nvPr/>
        </p:nvSpPr>
        <p:spPr>
          <a:xfrm>
            <a:off x="4940379" y="581513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Простая аутентификация по имени.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774848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E5C9C8A1-4E2A-4D0C-0D05-CF1786F6E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859" y="307257"/>
            <a:ext cx="3674470" cy="73622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EFEF743-AACF-214D-B336-2ADD99FFCA6D}"/>
              </a:ext>
            </a:extLst>
          </p:cNvPr>
          <p:cNvSpPr/>
          <p:nvPr/>
        </p:nvSpPr>
        <p:spPr>
          <a:xfrm>
            <a:off x="793790" y="867370"/>
            <a:ext cx="7556421" cy="1165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Как это работает?</a:t>
            </a:r>
            <a:endParaRPr lang="en-US" sz="44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F2E2795-259B-8364-5E67-A72A830D31C5}"/>
              </a:ext>
            </a:extLst>
          </p:cNvPr>
          <p:cNvSpPr/>
          <p:nvPr/>
        </p:nvSpPr>
        <p:spPr>
          <a:xfrm>
            <a:off x="961533" y="2016578"/>
            <a:ext cx="2700524" cy="46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/>
              <a:t>Просто и понятно: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A23B5-C72A-6999-0215-5EA07D8B4A68}"/>
              </a:ext>
            </a:extLst>
          </p:cNvPr>
          <p:cNvSpPr txBox="1"/>
          <p:nvPr/>
        </p:nvSpPr>
        <p:spPr>
          <a:xfrm>
            <a:off x="883665" y="2484829"/>
            <a:ext cx="7315200" cy="268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Входишь в приложение</a:t>
            </a:r>
            <a:r>
              <a:rPr lang="ru-RU" sz="1900" dirty="0"/>
              <a:t> → пишешь свое имя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Выбираешь предмет</a:t>
            </a:r>
            <a:r>
              <a:rPr lang="ru-RU" sz="1900" dirty="0"/>
              <a:t> → например, "Математика"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Выбираешь тип работы</a:t>
            </a:r>
            <a:r>
              <a:rPr lang="ru-RU" sz="1900" dirty="0"/>
              <a:t> → например, "Подготовка к экзамену"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Нажимаешь "Найти напарника"</a:t>
            </a:r>
            <a:r>
              <a:rPr lang="ru-RU" sz="1900" dirty="0"/>
              <a:t> → видишь список студентов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Выбираешь человека</a:t>
            </a:r>
            <a:r>
              <a:rPr lang="ru-RU" sz="1900" dirty="0"/>
              <a:t> → отправляешь ему запрос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1900" b="1" dirty="0"/>
              <a:t>Он получает уведомление</a:t>
            </a:r>
            <a:r>
              <a:rPr lang="ru-RU" sz="1900" dirty="0"/>
              <a:t> → принимает или отклоняет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3AFADA-594F-64D4-CA2A-73D1F692B29F}"/>
              </a:ext>
            </a:extLst>
          </p:cNvPr>
          <p:cNvSpPr txBox="1"/>
          <p:nvPr/>
        </p:nvSpPr>
        <p:spPr>
          <a:xfrm>
            <a:off x="883665" y="5431837"/>
            <a:ext cx="7315200" cy="2355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Для кого создано:</a:t>
            </a:r>
          </a:p>
          <a:p>
            <a:pPr>
              <a:lnSpc>
                <a:spcPct val="150000"/>
              </a:lnSpc>
            </a:pPr>
            <a:r>
              <a:rPr lang="ru-RU" sz="1900" dirty="0"/>
              <a:t>🎓 </a:t>
            </a:r>
            <a:r>
              <a:rPr lang="ru-RU" sz="1900" b="1" dirty="0"/>
              <a:t>Студенты вузов</a:t>
            </a:r>
            <a:r>
              <a:rPr lang="ru-RU" sz="1900" dirty="0"/>
              <a:t> - для лабораторных и проектов</a:t>
            </a:r>
            <a:br>
              <a:rPr lang="ru-RU" sz="1900" dirty="0"/>
            </a:br>
            <a:r>
              <a:rPr lang="ru-RU" sz="1900" dirty="0"/>
              <a:t>🏫 </a:t>
            </a:r>
            <a:r>
              <a:rPr lang="ru-RU" sz="1900" b="1" dirty="0"/>
              <a:t>Ученики колледжей</a:t>
            </a:r>
            <a:r>
              <a:rPr lang="ru-RU" sz="1900" dirty="0"/>
              <a:t> - для групповых работ</a:t>
            </a:r>
            <a:br>
              <a:rPr lang="ru-RU" sz="1900" dirty="0"/>
            </a:br>
            <a:r>
              <a:rPr lang="ru-RU" sz="1900" dirty="0"/>
              <a:t>📚 </a:t>
            </a:r>
            <a:r>
              <a:rPr lang="ru-RU" sz="1900" b="1" dirty="0"/>
              <a:t>Все, кто учится</a:t>
            </a:r>
            <a:r>
              <a:rPr lang="ru-RU" sz="1900" dirty="0"/>
              <a:t> - для подготовки к экзаменам</a:t>
            </a:r>
            <a:br>
              <a:rPr lang="ru-RU" sz="1900" dirty="0"/>
            </a:br>
            <a:r>
              <a:rPr lang="ru-RU" sz="1900" dirty="0"/>
              <a:t>👥 </a:t>
            </a:r>
            <a:r>
              <a:rPr lang="ru-RU" sz="1900" b="1" dirty="0"/>
              <a:t>Люди на курсах</a:t>
            </a:r>
            <a:r>
              <a:rPr lang="ru-RU" sz="1900" dirty="0"/>
              <a:t> - для практики вместе</a:t>
            </a:r>
          </a:p>
        </p:txBody>
      </p:sp>
    </p:spTree>
    <p:extLst>
      <p:ext uri="{BB962C8B-B14F-4D97-AF65-F5344CB8AC3E}">
        <p14:creationId xmlns:p14="http://schemas.microsoft.com/office/powerpoint/2010/main" val="8674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F333F99B-6445-FA1C-B1E4-4AEC9B855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093" y="852616"/>
            <a:ext cx="5486400" cy="65243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499D6A0-BABB-1463-6D16-E498C5BE4725}"/>
              </a:ext>
            </a:extLst>
          </p:cNvPr>
          <p:cNvSpPr/>
          <p:nvPr/>
        </p:nvSpPr>
        <p:spPr>
          <a:xfrm>
            <a:off x="6280190" y="6985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Структура проекта</a:t>
            </a:r>
            <a:endParaRPr lang="en-US" sz="44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70D0D24-B3E2-75E5-0A35-E5CC8A1D6CE0}"/>
              </a:ext>
            </a:extLst>
          </p:cNvPr>
          <p:cNvSpPr/>
          <p:nvPr/>
        </p:nvSpPr>
        <p:spPr>
          <a:xfrm>
            <a:off x="6280190" y="1747480"/>
            <a:ext cx="7556421" cy="5783580"/>
          </a:xfrm>
          <a:prstGeom prst="roundRect">
            <a:avLst>
              <a:gd name="adj" fmla="val 1647"/>
            </a:avLst>
          </a:prstGeom>
          <a:solidFill>
            <a:srgbClr val="F2EFED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DFE1F1F-02B0-2A42-1116-525AB5251CFA}"/>
              </a:ext>
            </a:extLst>
          </p:cNvPr>
          <p:cNvSpPr/>
          <p:nvPr/>
        </p:nvSpPr>
        <p:spPr>
          <a:xfrm>
            <a:off x="6268879" y="1747480"/>
            <a:ext cx="7579043" cy="5783580"/>
          </a:xfrm>
          <a:prstGeom prst="roundRect">
            <a:avLst>
              <a:gd name="adj" fmla="val 588"/>
            </a:avLst>
          </a:prstGeom>
          <a:solidFill>
            <a:srgbClr val="F2EFED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879F695-CC62-D44B-63F6-59499219DE56}"/>
              </a:ext>
            </a:extLst>
          </p:cNvPr>
          <p:cNvSpPr/>
          <p:nvPr/>
        </p:nvSpPr>
        <p:spPr>
          <a:xfrm>
            <a:off x="6495693" y="1917502"/>
            <a:ext cx="7125414" cy="544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Study Buddy/
├── Activities/
│ ├── MainActivity (главный экран)
│ ├── LoginActivity (авторизация </a:t>
            </a:r>
            <a:r>
              <a:rPr lang="ru-RU" sz="1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по имени</a:t>
            </a:r>
            <a:r>
              <a:rPr lang="en-US" sz="1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
│ ├── FindPartnerActivity (поиск)
│ └── MyRequestsActivity (запросы)
├── Adapters/
│ ├── UserAdapter (список пользователей)
│ └── RequestAdapter (список запросов)
├── Manager/
│ └── RequestManager (управление запросами)
└── Models/
 ├── Request (модель запроса)
 └── RequestItem (элемент списка)
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76626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AFA066-45D6-807B-C134-83B7EA8B547A}"/>
              </a:ext>
            </a:extLst>
          </p:cNvPr>
          <p:cNvSpPr/>
          <p:nvPr/>
        </p:nvSpPr>
        <p:spPr>
          <a:xfrm>
            <a:off x="695818" y="354568"/>
            <a:ext cx="92397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Основные экраны приложения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80F85-2596-5BE1-291A-0F05F3233C74}"/>
              </a:ext>
            </a:extLst>
          </p:cNvPr>
          <p:cNvSpPr/>
          <p:nvPr/>
        </p:nvSpPr>
        <p:spPr>
          <a:xfrm>
            <a:off x="712146" y="1482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Экран входа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A5E7F5-D817-D5FD-22EB-07DC5D5EE126}"/>
              </a:ext>
            </a:extLst>
          </p:cNvPr>
          <p:cNvSpPr/>
          <p:nvPr/>
        </p:nvSpPr>
        <p:spPr>
          <a:xfrm>
            <a:off x="712146" y="1972951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Поле для имени и кнопка "Войти".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47C225-23AA-F9D9-B831-D0E4E35BE52C}"/>
              </a:ext>
            </a:extLst>
          </p:cNvPr>
          <p:cNvSpPr/>
          <p:nvPr/>
        </p:nvSpPr>
        <p:spPr>
          <a:xfrm>
            <a:off x="4051798" y="1482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Главный экран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73C649-A5E9-088B-E1E8-102A95BF538D}"/>
              </a:ext>
            </a:extLst>
          </p:cNvPr>
          <p:cNvSpPr/>
          <p:nvPr/>
        </p:nvSpPr>
        <p:spPr>
          <a:xfrm>
            <a:off x="4051798" y="197295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Навигация к основным функциям.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E0155AC-DA73-7000-5669-B1EC8573D64B}"/>
              </a:ext>
            </a:extLst>
          </p:cNvPr>
          <p:cNvSpPr/>
          <p:nvPr/>
        </p:nvSpPr>
        <p:spPr>
          <a:xfrm>
            <a:off x="7383404" y="1482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Экран поиска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7BF0B7-77AA-8428-A3FC-9CD2719AF5C5}"/>
              </a:ext>
            </a:extLst>
          </p:cNvPr>
          <p:cNvSpPr/>
          <p:nvPr/>
        </p:nvSpPr>
        <p:spPr>
          <a:xfrm>
            <a:off x="7383404" y="197295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Фильтры и список найденных пользователей.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4C50EE-D4BD-94B9-F689-013DA5D91959}"/>
              </a:ext>
            </a:extLst>
          </p:cNvPr>
          <p:cNvSpPr/>
          <p:nvPr/>
        </p:nvSpPr>
        <p:spPr>
          <a:xfrm>
            <a:off x="10829308" y="14825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Экран запросов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EA2135-1C36-7E35-176E-E6973BC45367}"/>
              </a:ext>
            </a:extLst>
          </p:cNvPr>
          <p:cNvSpPr/>
          <p:nvPr/>
        </p:nvSpPr>
        <p:spPr>
          <a:xfrm>
            <a:off x="10829308" y="197295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Разделы "Входящие" и "Исходящие".</a:t>
            </a:r>
            <a:endParaRPr lang="en-US" sz="17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F34B58F-C854-048D-0988-370500B9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367" y="3350333"/>
            <a:ext cx="2110627" cy="43842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EE01100-31D9-5358-FFC3-1B45E5F7B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42" y="3344566"/>
            <a:ext cx="2213845" cy="43725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AC0FEB9-037A-49DF-DE41-C28C958D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821" y="3344566"/>
            <a:ext cx="1974360" cy="43725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7B532E0-8162-AB44-0EB7-852501889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294" y="3300072"/>
            <a:ext cx="1995141" cy="44170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32973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AC9AD1-ECF5-0BCF-A64F-EFEC125A5F92}"/>
              </a:ext>
            </a:extLst>
          </p:cNvPr>
          <p:cNvSpPr/>
          <p:nvPr/>
        </p:nvSpPr>
        <p:spPr>
          <a:xfrm>
            <a:off x="793790" y="731044"/>
            <a:ext cx="701040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Возможности для развития</a:t>
            </a:r>
            <a:endParaRPr lang="en-US" sz="3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F98CEC-6A19-4593-CF52-3CDFB81DBFB2}"/>
              </a:ext>
            </a:extLst>
          </p:cNvPr>
          <p:cNvSpPr/>
          <p:nvPr/>
        </p:nvSpPr>
        <p:spPr>
          <a:xfrm>
            <a:off x="793790" y="1719024"/>
            <a:ext cx="2173724" cy="1862257"/>
          </a:xfrm>
          <a:prstGeom prst="roundRect">
            <a:avLst>
              <a:gd name="adj" fmla="val 434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DE9552-E192-31F8-EFA9-A7C81D8934C4}"/>
              </a:ext>
            </a:extLst>
          </p:cNvPr>
          <p:cNvSpPr/>
          <p:nvPr/>
        </p:nvSpPr>
        <p:spPr>
          <a:xfrm>
            <a:off x="1745099" y="2480667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0A115F-BEAC-30CE-2B13-C4307445C574}"/>
              </a:ext>
            </a:extLst>
          </p:cNvPr>
          <p:cNvSpPr/>
          <p:nvPr/>
        </p:nvSpPr>
        <p:spPr>
          <a:xfrm>
            <a:off x="3160276" y="1911787"/>
            <a:ext cx="346638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Краткосрочные улучшения</a:t>
            </a:r>
            <a:endParaRPr lang="en-US" sz="1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3C52F8-1F5C-EB40-C3F3-6A8EDD77360D}"/>
              </a:ext>
            </a:extLst>
          </p:cNvPr>
          <p:cNvSpPr/>
          <p:nvPr/>
        </p:nvSpPr>
        <p:spPr>
          <a:xfrm>
            <a:off x="3160276" y="2328624"/>
            <a:ext cx="346638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База данных (SQLite)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490560-ED8D-E51E-5C0A-C86818D9E213}"/>
              </a:ext>
            </a:extLst>
          </p:cNvPr>
          <p:cNvSpPr/>
          <p:nvPr/>
        </p:nvSpPr>
        <p:spPr>
          <a:xfrm>
            <a:off x="3160276" y="2704386"/>
            <a:ext cx="346638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Push-уведомления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0F2A76-A000-41E4-9022-90B327E7A060}"/>
              </a:ext>
            </a:extLst>
          </p:cNvPr>
          <p:cNvSpPr/>
          <p:nvPr/>
        </p:nvSpPr>
        <p:spPr>
          <a:xfrm>
            <a:off x="3160276" y="3080147"/>
            <a:ext cx="346638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Расширение фильтров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BE71A7-7A2D-DFF7-412D-326544AC08D3}"/>
              </a:ext>
            </a:extLst>
          </p:cNvPr>
          <p:cNvSpPr/>
          <p:nvPr/>
        </p:nvSpPr>
        <p:spPr>
          <a:xfrm>
            <a:off x="3063835" y="3571756"/>
            <a:ext cx="10676453" cy="11430"/>
          </a:xfrm>
          <a:prstGeom prst="roundRect">
            <a:avLst>
              <a:gd name="adj" fmla="val 708465"/>
            </a:avLst>
          </a:prstGeom>
          <a:solidFill>
            <a:srgbClr val="D1C8C6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C65221D-C9EB-C641-1FE1-CAD0E781C8B3}"/>
              </a:ext>
            </a:extLst>
          </p:cNvPr>
          <p:cNvSpPr/>
          <p:nvPr/>
        </p:nvSpPr>
        <p:spPr>
          <a:xfrm>
            <a:off x="793790" y="3677603"/>
            <a:ext cx="4347567" cy="1862257"/>
          </a:xfrm>
          <a:prstGeom prst="roundRect">
            <a:avLst>
              <a:gd name="adj" fmla="val 434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145F4B0-5B2A-D8E0-D8D5-A0413834D36E}"/>
              </a:ext>
            </a:extLst>
          </p:cNvPr>
          <p:cNvSpPr/>
          <p:nvPr/>
        </p:nvSpPr>
        <p:spPr>
          <a:xfrm>
            <a:off x="2832021" y="4439245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A5A0C0-F8A3-E69A-0DC3-A311CB9540D7}"/>
              </a:ext>
            </a:extLst>
          </p:cNvPr>
          <p:cNvSpPr/>
          <p:nvPr/>
        </p:nvSpPr>
        <p:spPr>
          <a:xfrm>
            <a:off x="5334119" y="3870365"/>
            <a:ext cx="348507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Среднесрочные улучшения</a:t>
            </a:r>
            <a:endParaRPr lang="en-US" sz="1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94974A-AE28-CDB2-2AF6-D2D185FF63D4}"/>
              </a:ext>
            </a:extLst>
          </p:cNvPr>
          <p:cNvSpPr/>
          <p:nvPr/>
        </p:nvSpPr>
        <p:spPr>
          <a:xfrm>
            <a:off x="5334119" y="4287203"/>
            <a:ext cx="34850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рейтингов и отзывов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9AFF8C-6E8F-01A7-D850-80F90A266019}"/>
              </a:ext>
            </a:extLst>
          </p:cNvPr>
          <p:cNvSpPr/>
          <p:nvPr/>
        </p:nvSpPr>
        <p:spPr>
          <a:xfrm>
            <a:off x="5334119" y="4662964"/>
            <a:ext cx="34850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Встроенный чат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44E5AEB-47E3-151A-1CEC-2FBC3B916ADD}"/>
              </a:ext>
            </a:extLst>
          </p:cNvPr>
          <p:cNvSpPr/>
          <p:nvPr/>
        </p:nvSpPr>
        <p:spPr>
          <a:xfrm>
            <a:off x="5334119" y="5038725"/>
            <a:ext cx="348507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Календарь для планирования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2D37B7D-7F03-259D-FCA7-A63D2386923E}"/>
              </a:ext>
            </a:extLst>
          </p:cNvPr>
          <p:cNvSpPr/>
          <p:nvPr/>
        </p:nvSpPr>
        <p:spPr>
          <a:xfrm>
            <a:off x="5237678" y="5530334"/>
            <a:ext cx="8502610" cy="11430"/>
          </a:xfrm>
          <a:prstGeom prst="roundRect">
            <a:avLst>
              <a:gd name="adj" fmla="val 708465"/>
            </a:avLst>
          </a:prstGeom>
          <a:solidFill>
            <a:srgbClr val="D1C8C6"/>
          </a:solidFill>
          <a:ln/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87DDD76-F2E1-DDF0-F97F-160B59E8BA8E}"/>
              </a:ext>
            </a:extLst>
          </p:cNvPr>
          <p:cNvSpPr/>
          <p:nvPr/>
        </p:nvSpPr>
        <p:spPr>
          <a:xfrm>
            <a:off x="793790" y="5636181"/>
            <a:ext cx="6521410" cy="1862257"/>
          </a:xfrm>
          <a:prstGeom prst="roundRect">
            <a:avLst>
              <a:gd name="adj" fmla="val 434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B69A917-B7C6-88B8-B1AC-54ADE3725694}"/>
              </a:ext>
            </a:extLst>
          </p:cNvPr>
          <p:cNvSpPr/>
          <p:nvPr/>
        </p:nvSpPr>
        <p:spPr>
          <a:xfrm>
            <a:off x="3918942" y="6397823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077D366-0B6C-A744-BCF6-73DB804D3117}"/>
              </a:ext>
            </a:extLst>
          </p:cNvPr>
          <p:cNvSpPr/>
          <p:nvPr/>
        </p:nvSpPr>
        <p:spPr>
          <a:xfrm>
            <a:off x="7507962" y="5828943"/>
            <a:ext cx="252591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Долгосрочные цели</a:t>
            </a:r>
            <a:endParaRPr lang="en-US" sz="1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50B796-83F1-74CE-4DEB-D73AE75BF1B5}"/>
              </a:ext>
            </a:extLst>
          </p:cNvPr>
          <p:cNvSpPr/>
          <p:nvPr/>
        </p:nvSpPr>
        <p:spPr>
          <a:xfrm>
            <a:off x="7507962" y="6245781"/>
            <a:ext cx="289381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Веб-версия приложения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F42D83A-7AF2-6D82-A581-0EC02E99A398}"/>
              </a:ext>
            </a:extLst>
          </p:cNvPr>
          <p:cNvSpPr/>
          <p:nvPr/>
        </p:nvSpPr>
        <p:spPr>
          <a:xfrm>
            <a:off x="7507962" y="6621542"/>
            <a:ext cx="289381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Интеграция с </a:t>
            </a:r>
            <a:r>
              <a:rPr lang="ru-RU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колледжем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6D954C-8931-72C6-EB84-42B7B44958B8}"/>
              </a:ext>
            </a:extLst>
          </p:cNvPr>
          <p:cNvSpPr/>
          <p:nvPr/>
        </p:nvSpPr>
        <p:spPr>
          <a:xfrm>
            <a:off x="7507962" y="6997303"/>
            <a:ext cx="289381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Мобильные версии для iOS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33086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1437E2-000F-E7A9-7471-F1005FB1C72F}"/>
              </a:ext>
            </a:extLst>
          </p:cNvPr>
          <p:cNvSpPr txBox="1"/>
          <p:nvPr/>
        </p:nvSpPr>
        <p:spPr>
          <a:xfrm>
            <a:off x="767439" y="486520"/>
            <a:ext cx="7315200" cy="676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750" b="1" i="0" u="none" strike="noStrike" kern="1200" cap="none" spc="0" normalizeH="0" baseline="0" noProof="0" dirty="0">
                <a:ln>
                  <a:noFill/>
                </a:ln>
                <a:solidFill>
                  <a:srgbClr val="443728"/>
                </a:solidFill>
                <a:effectLst/>
                <a:uLnTx/>
                <a:uFillTx/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Заключение и выводы</a:t>
            </a:r>
            <a:endParaRPr kumimoji="0" lang="en-US" sz="3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AD91A-168F-17A7-D947-45E21E490D00}"/>
              </a:ext>
            </a:extLst>
          </p:cNvPr>
          <p:cNvSpPr txBox="1"/>
          <p:nvPr/>
        </p:nvSpPr>
        <p:spPr>
          <a:xfrm>
            <a:off x="824590" y="1362493"/>
            <a:ext cx="7315200" cy="6331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/>
              <a:t>📊 Итоги проекта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Достигнутые цели: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✅ Создано рабочее Android-приложение</a:t>
            </a:r>
          </a:p>
          <a:p>
            <a:pPr>
              <a:lnSpc>
                <a:spcPct val="150000"/>
              </a:lnSpc>
            </a:pPr>
            <a:r>
              <a:rPr lang="ru-RU" dirty="0"/>
              <a:t>✅ Реализован основной функционал</a:t>
            </a:r>
          </a:p>
          <a:p>
            <a:pPr>
              <a:lnSpc>
                <a:spcPct val="150000"/>
              </a:lnSpc>
            </a:pPr>
            <a:r>
              <a:rPr lang="ru-RU" dirty="0"/>
              <a:t>✅ Разработан удобный пользовательский интерфейс</a:t>
            </a:r>
          </a:p>
          <a:p>
            <a:pPr>
              <a:lnSpc>
                <a:spcPct val="150000"/>
              </a:lnSpc>
            </a:pPr>
            <a:r>
              <a:rPr lang="ru-RU" dirty="0"/>
              <a:t>✅ Протестирована работа приложения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Приобретенные навыки:</a:t>
            </a:r>
            <a:endParaRPr lang="ru-RU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Разработка под Android на Java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Создание </a:t>
            </a:r>
            <a:r>
              <a:rPr lang="ru-RU" dirty="0" err="1"/>
              <a:t>многоэкранных</a:t>
            </a:r>
            <a:r>
              <a:rPr lang="ru-RU" dirty="0"/>
              <a:t> приложений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Перспективы:</a:t>
            </a:r>
            <a:endParaRPr lang="ru-RU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Проект может быть расширен до коммерческого продукта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Актуальность решения проблем студентов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Полученный опыт применим в реальных проектах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C703A16B-9231-0049-A5CA-8FE524586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414" y="571500"/>
            <a:ext cx="4961079" cy="66130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9850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</TotalTime>
  <Words>491</Words>
  <Application>Microsoft Office PowerPoint</Application>
  <PresentationFormat>Произвольный</PresentationFormat>
  <Paragraphs>100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Crimson Pro Bold</vt:lpstr>
      <vt:lpstr>Crimson Pro Light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Emiliia Matatova</dc:creator>
  <cp:lastModifiedBy>Emiliia Matatova</cp:lastModifiedBy>
  <cp:revision>19</cp:revision>
  <dcterms:created xsi:type="dcterms:W3CDTF">2025-12-20T17:56:51Z</dcterms:created>
  <dcterms:modified xsi:type="dcterms:W3CDTF">2025-12-22T11:04:51Z</dcterms:modified>
</cp:coreProperties>
</file>